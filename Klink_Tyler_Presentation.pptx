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DC142-7E06-C045-925F-4FBB7A137B27}" v="13" dt="2025-12-09T19:11:35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61"/>
  </p:normalViewPr>
  <p:slideViewPr>
    <p:cSldViewPr snapToGrid="0">
      <p:cViewPr varScale="1">
        <p:scale>
          <a:sx n="114" d="100"/>
          <a:sy n="114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6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0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6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2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1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6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6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2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33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62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93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12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48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1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9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6E242E8-5D2D-954A-9BC1-DC4010616AB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061CA64-9C14-3643-A83F-DF453095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7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C295-53C9-5FF9-9D12-DB1C0618E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74542-8A70-09A6-1339-1BD7C9FCD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Tyler Klink</a:t>
            </a:r>
          </a:p>
        </p:txBody>
      </p:sp>
    </p:spTree>
    <p:extLst>
      <p:ext uri="{BB962C8B-B14F-4D97-AF65-F5344CB8AC3E}">
        <p14:creationId xmlns:p14="http://schemas.microsoft.com/office/powerpoint/2010/main" val="3902886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E6E2-C0AF-CCE4-AB28-F9AF276F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075A6-05C6-97CD-ADD0-114B0EC2F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 Toyota Used Cars Market Insights – Kaggle</a:t>
            </a:r>
          </a:p>
          <a:p>
            <a:r>
              <a:rPr lang="en-US" dirty="0"/>
              <a:t>Rows (Used Cars) - 6,738</a:t>
            </a:r>
          </a:p>
          <a:p>
            <a:r>
              <a:rPr lang="en-US" dirty="0"/>
              <a:t>Original Columns (9): price, year, mileage, fuel type, transmission, engine size, mpg, tax, model</a:t>
            </a:r>
          </a:p>
          <a:p>
            <a:r>
              <a:rPr lang="en-US" dirty="0"/>
              <a:t>Engineered Columns (2): Age (newest year − car year), High Price (1 if price &gt; median, 0 otherwise)</a:t>
            </a:r>
          </a:p>
        </p:txBody>
      </p:sp>
    </p:spTree>
    <p:extLst>
      <p:ext uri="{BB962C8B-B14F-4D97-AF65-F5344CB8AC3E}">
        <p14:creationId xmlns:p14="http://schemas.microsoft.com/office/powerpoint/2010/main" val="389908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EDC2-1219-0D94-CDD1-D1D055FE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C41A7-A6C2-F8F2-D895-51C7A2FA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Question: Can we predict whether a Toyota vehicle is priced above or below the median price based on mileage, age, fuel type, transmission, and other features?</a:t>
            </a:r>
          </a:p>
          <a:p>
            <a:r>
              <a:rPr lang="en-US" dirty="0"/>
              <a:t>Target Variable: </a:t>
            </a:r>
            <a:r>
              <a:rPr lang="en-US" sz="2000" dirty="0"/>
              <a:t>”High Price” (Price &gt; Median Price)</a:t>
            </a:r>
          </a:p>
          <a:p>
            <a:r>
              <a:rPr lang="en-US" sz="2000" dirty="0"/>
              <a:t>Binary (0 = Price &lt; Median Price, 1 = Price &gt; Median Price)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6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7374-71D4-0723-550E-0836E8CC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Python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2195-D52D-42D3-5915-38D10CD7A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 dirty="0"/>
              <a:t>High price cars tend to have lower mileage</a:t>
            </a:r>
          </a:p>
        </p:txBody>
      </p:sp>
      <p:pic>
        <p:nvPicPr>
          <p:cNvPr id="5" name="Picture 4" descr="A graph of a mileage by high price&#10;&#10;Description automatically generated">
            <a:extLst>
              <a:ext uri="{FF2B5EF4-FFF2-40B4-BE49-F238E27FC236}">
                <a16:creationId xmlns:a16="http://schemas.microsoft.com/office/drawing/2014/main" id="{EBC0D509-723D-BDB3-B40F-DB793ACB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657950"/>
            <a:ext cx="6916633" cy="522205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1920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BCBD-5BAC-B042-DB4F-4F699A30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599"/>
            <a:ext cx="6132446" cy="20097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Python Eda</a:t>
            </a:r>
          </a:p>
        </p:txBody>
      </p:sp>
      <p:pic>
        <p:nvPicPr>
          <p:cNvPr id="5" name="Picture 4" descr="A graph with blue dots&#10;&#10;Description automatically generated">
            <a:extLst>
              <a:ext uri="{FF2B5EF4-FFF2-40B4-BE49-F238E27FC236}">
                <a16:creationId xmlns:a16="http://schemas.microsoft.com/office/drawing/2014/main" id="{2B27467D-13FD-23F3-FDBE-1ACA720A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108" y="0"/>
            <a:ext cx="4391891" cy="3370777"/>
          </a:xfrm>
          <a:custGeom>
            <a:avLst/>
            <a:gdLst/>
            <a:ahLst/>
            <a:cxnLst/>
            <a:rect l="l" t="t" r="r" b="b"/>
            <a:pathLst>
              <a:path w="3416888" h="2057399">
                <a:moveTo>
                  <a:pt x="120172" y="0"/>
                </a:moveTo>
                <a:lnTo>
                  <a:pt x="3296716" y="0"/>
                </a:lnTo>
                <a:cubicBezTo>
                  <a:pt x="3363085" y="0"/>
                  <a:pt x="3416888" y="53803"/>
                  <a:pt x="3416888" y="120172"/>
                </a:cubicBezTo>
                <a:lnTo>
                  <a:pt x="3416888" y="2057399"/>
                </a:lnTo>
                <a:lnTo>
                  <a:pt x="0" y="2057399"/>
                </a:lnTo>
                <a:lnTo>
                  <a:pt x="0" y="120172"/>
                </a:lnTo>
                <a:cubicBezTo>
                  <a:pt x="0" y="53803"/>
                  <a:pt x="53803" y="0"/>
                  <a:pt x="120172" y="0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08801-CAFC-EA53-4D56-7CDCC2AA4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774425"/>
            <a:ext cx="6132446" cy="3288445"/>
          </a:xfrm>
        </p:spPr>
        <p:txBody>
          <a:bodyPr>
            <a:normAutofit/>
          </a:bodyPr>
          <a:lstStyle/>
          <a:p>
            <a:r>
              <a:rPr lang="en-US" dirty="0"/>
              <a:t>Newer vehicles are more likely to be high-priced</a:t>
            </a:r>
          </a:p>
        </p:txBody>
      </p:sp>
      <p:pic>
        <p:nvPicPr>
          <p:cNvPr id="7" name="Picture 6" descr="A graph with blue and black lines&#10;&#10;Description automatically generated">
            <a:extLst>
              <a:ext uri="{FF2B5EF4-FFF2-40B4-BE49-F238E27FC236}">
                <a16:creationId xmlns:a16="http://schemas.microsoft.com/office/drawing/2014/main" id="{70D885EF-CC20-32C2-51AA-7C962C6BE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109" y="3344489"/>
            <a:ext cx="4391891" cy="3513511"/>
          </a:xfrm>
          <a:custGeom>
            <a:avLst/>
            <a:gdLst/>
            <a:ahLst/>
            <a:cxnLst/>
            <a:rect l="l" t="t" r="r" b="b"/>
            <a:pathLst>
              <a:path w="3416888" h="3240120">
                <a:moveTo>
                  <a:pt x="0" y="0"/>
                </a:moveTo>
                <a:lnTo>
                  <a:pt x="3416888" y="0"/>
                </a:lnTo>
                <a:lnTo>
                  <a:pt x="3416888" y="3119948"/>
                </a:lnTo>
                <a:cubicBezTo>
                  <a:pt x="3416888" y="3186317"/>
                  <a:pt x="3363085" y="3240120"/>
                  <a:pt x="3296716" y="3240120"/>
                </a:cubicBezTo>
                <a:lnTo>
                  <a:pt x="120172" y="3240120"/>
                </a:lnTo>
                <a:cubicBezTo>
                  <a:pt x="53803" y="3240120"/>
                  <a:pt x="0" y="3186317"/>
                  <a:pt x="0" y="3119948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8066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8BD5-9C29-B361-6937-174E49A5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Python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9CA6-9DD5-E115-F0B3-0D19DC44C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Larger engine size is associated with higher prices</a:t>
            </a:r>
          </a:p>
        </p:txBody>
      </p:sp>
      <p:pic>
        <p:nvPicPr>
          <p:cNvPr id="5" name="Picture 4" descr="A graph with blue and black lines&#10;&#10;Description automatically generated">
            <a:extLst>
              <a:ext uri="{FF2B5EF4-FFF2-40B4-BE49-F238E27FC236}">
                <a16:creationId xmlns:a16="http://schemas.microsoft.com/office/drawing/2014/main" id="{170C3A9D-0DD7-F528-E91A-5711B3435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927" y="645106"/>
            <a:ext cx="6458766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72284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7FB9-07D6-B19B-8FC8-B2D068F2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Tableau 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ACCB-4C6A-18F5-36AD-E8E4A5723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High Price Count: 3,363</a:t>
            </a:r>
          </a:p>
          <a:p>
            <a:r>
              <a:rPr lang="en-US" sz="1800"/>
              <a:t>Low Price Count: 3,375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B6929B4-4EB0-7566-76B2-063F92852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943262"/>
            <a:ext cx="6916633" cy="465143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25249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3305-CBA2-C1E6-22C5-3B023411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en-US"/>
              <a:t>Tableau Dashboards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B1E2B604-D607-757F-7BBA-87C7B7A05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6573684" cy="3216276"/>
          </a:xfrm>
        </p:spPr>
        <p:txBody>
          <a:bodyPr anchor="t">
            <a:normAutofit/>
          </a:bodyPr>
          <a:lstStyle/>
          <a:p>
            <a:r>
              <a:rPr lang="en-US" dirty="0"/>
              <a:t>Mileage Increase </a:t>
            </a:r>
            <a:r>
              <a:rPr lang="en-US" dirty="0">
                <a:sym typeface="Wingdings" pitchFamily="2" charset="2"/>
              </a:rPr>
              <a:t> Price Decrease</a:t>
            </a:r>
            <a:endParaRPr lang="en-US" dirty="0"/>
          </a:p>
        </p:txBody>
      </p:sp>
      <p:pic>
        <p:nvPicPr>
          <p:cNvPr id="5" name="Content Placeholder 4" descr="A graph of a graph of a number of milesage&#10;&#10;Description automatically generated with medium confidence">
            <a:extLst>
              <a:ext uri="{FF2B5EF4-FFF2-40B4-BE49-F238E27FC236}">
                <a16:creationId xmlns:a16="http://schemas.microsoft.com/office/drawing/2014/main" id="{8240C86A-E6E7-975B-4166-35ACC19AD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243" y="645106"/>
            <a:ext cx="2085979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9875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BDD8-CF48-E16B-ACF6-1B78FB73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Tableau Dashboards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68C6CD-91AE-98D6-1A16-38C3408E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 dirty="0"/>
              <a:t>Age Increase </a:t>
            </a:r>
            <a:r>
              <a:rPr lang="en-US" sz="1800" dirty="0">
                <a:sym typeface="Wingdings" pitchFamily="2" charset="2"/>
              </a:rPr>
              <a:t> Price Decrease</a:t>
            </a:r>
            <a:endParaRPr lang="en-US" sz="1800" dirty="0"/>
          </a:p>
        </p:txBody>
      </p:sp>
      <p:pic>
        <p:nvPicPr>
          <p:cNvPr id="5" name="Content Placeholder 4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0E5F22B6-7A39-C7BA-C0D6-092F3075A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943262"/>
            <a:ext cx="6916633" cy="465143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552386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E978-5315-9A41-103F-0ADEC505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Tableau Dashboards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21CE0B-759A-1D40-2D31-A9A506ABF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>
            <a:normAutofit/>
          </a:bodyPr>
          <a:lstStyle/>
          <a:p>
            <a:r>
              <a:rPr lang="en-US" sz="1800" dirty="0"/>
              <a:t>Automatic Transmission </a:t>
            </a:r>
            <a:r>
              <a:rPr lang="en-US" sz="1800" dirty="0">
                <a:sym typeface="Wingdings" pitchFamily="2" charset="2"/>
              </a:rPr>
              <a:t> Price Increase</a:t>
            </a:r>
          </a:p>
          <a:p>
            <a:r>
              <a:rPr lang="en-US" sz="1800" dirty="0">
                <a:sym typeface="Wingdings" pitchFamily="2" charset="2"/>
              </a:rPr>
              <a:t>Manual Transmission  Price Decrease</a:t>
            </a:r>
            <a:endParaRPr lang="en-US" sz="1800" dirty="0"/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0D2FC836-5E0E-57AB-FEC3-9FB1CD93C0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92" b="-1"/>
          <a:stretch>
            <a:fillRect/>
          </a:stretch>
        </p:blipFill>
        <p:spPr>
          <a:xfrm>
            <a:off x="4630994" y="645106"/>
            <a:ext cx="6916633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4170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A6CC-3446-7CEA-DE19-D5A24F8F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Tableau Dashboards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E973A7-BD9C-586D-944A-20232E941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 dirty="0"/>
              <a:t>Hybrid and Diesel Fuel </a:t>
            </a:r>
            <a:r>
              <a:rPr lang="en-US" sz="1800" dirty="0">
                <a:sym typeface="Wingdings" pitchFamily="2" charset="2"/>
              </a:rPr>
              <a:t> Price Increase</a:t>
            </a:r>
          </a:p>
          <a:p>
            <a:r>
              <a:rPr lang="en-US" sz="1800" dirty="0">
                <a:sym typeface="Wingdings" pitchFamily="2" charset="2"/>
              </a:rPr>
              <a:t>Petrol  Price Decrease</a:t>
            </a:r>
            <a:endParaRPr lang="en-US" sz="1800" dirty="0"/>
          </a:p>
        </p:txBody>
      </p:sp>
      <p:pic>
        <p:nvPicPr>
          <p:cNvPr id="5" name="Content Placeholder 4" descr="A graph of a graph of fuel prices&#10;&#10;Description automatically generated with medium confidence">
            <a:extLst>
              <a:ext uri="{FF2B5EF4-FFF2-40B4-BE49-F238E27FC236}">
                <a16:creationId xmlns:a16="http://schemas.microsoft.com/office/drawing/2014/main" id="{E5CA057B-8DDD-0639-DBE3-E5E25B568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943262"/>
            <a:ext cx="6916633" cy="465143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091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E03D-F415-0015-8BF3-06B9FB29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F00D-80E4-E858-49FD-55A0FEAD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prepare the data for modeling, missing values were removed and all relevant variables were organized into numerical form. The data was split into training and testing sets, with 75% of the data used to train the model and 25% used to evaluate its performance.</a:t>
            </a:r>
          </a:p>
          <a:p>
            <a:r>
              <a:rPr lang="en-US" dirty="0"/>
              <a:t>A logistic regression model was then trained to classify vehicles as either priced above or below the median. This model was chosen because it is well-suited for binary classification problems and provides interpretable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9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4373-113C-9088-196D-FEF4E3D3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en-US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Confusion matrix +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368F6-2AC2-997A-08DA-826153CB4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6573684" cy="32162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/>
              <a:t>Model performance was evaluated using a confusion matrix and standard classification metrics. The confusion matrix shows how many vehicles were correctly and incorrectly classified as high-price or low-price. Most predictions fall along the diagonal of the matrix, indicating strong overall performance.</a:t>
            </a:r>
          </a:p>
          <a:p>
            <a:pPr>
              <a:lnSpc>
                <a:spcPct val="90000"/>
              </a:lnSpc>
            </a:pPr>
            <a:r>
              <a:rPr lang="en-US" sz="1900"/>
              <a:t>The model achieved an accuracy of approximately 87% to 90%, with balanced precision and recall across both classes. This indicates that the model performs consistently and does not favor one price category over the other.</a:t>
            </a:r>
          </a:p>
          <a:p>
            <a:pPr>
              <a:lnSpc>
                <a:spcPct val="90000"/>
              </a:lnSpc>
            </a:pPr>
            <a:endParaRPr lang="en-US" sz="1900"/>
          </a:p>
        </p:txBody>
      </p:sp>
      <p:pic>
        <p:nvPicPr>
          <p:cNvPr id="5" name="Picture 4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7F254660-DF22-38E5-47C7-9AD7116C4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9" y="1723004"/>
            <a:ext cx="3976788" cy="309195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0752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5DF2-B013-D810-5ECC-5516394F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B836D-051C-B5F2-6C92-4BF380468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900" dirty="0"/>
              <a:t>Vehicles with lower mileage were significantly more likely to be priced above the median, indicating that mileage is a strong indicator of vehicle value.</a:t>
            </a:r>
          </a:p>
          <a:p>
            <a:r>
              <a:rPr lang="en-US" sz="1900" dirty="0"/>
              <a:t>Newer vehicles were much more likely to fall into the high-price category, showing a clear relationship between age and price.</a:t>
            </a:r>
          </a:p>
          <a:p>
            <a:r>
              <a:rPr lang="en-US" sz="1900" dirty="0"/>
              <a:t>Cars with larger engine sizes tended to be priced higher, suggesting that engine capacity contributes positively to market value.</a:t>
            </a:r>
          </a:p>
          <a:p>
            <a:r>
              <a:rPr lang="en-US" sz="1900" dirty="0"/>
              <a:t>Vehicles with automatic or semi-automatic transmissions were more commonly classified as high-priced compared to manual transmissions.</a:t>
            </a:r>
          </a:p>
          <a:p>
            <a:r>
              <a:rPr lang="en-US" sz="1900" dirty="0"/>
              <a:t>Hybrid fuel types were more likely to appear in the high-price category, reflecting market preferences for fuel efficiency and newer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84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AFD1-31EA-B5BA-EAC3-AE4311F5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DD18-0A14-372A-A813-4502803CB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Vehicle characteristics can be used to reliably predict whether a Toyota is priced above or below the median market price.</a:t>
            </a:r>
          </a:p>
          <a:p>
            <a:r>
              <a:rPr lang="en-US" sz="1800" dirty="0"/>
              <a:t>Mileage and vehicle age were the most influential factors, with newer cars and lower-mileage vehicles more likely to be high-priced.</a:t>
            </a:r>
          </a:p>
          <a:p>
            <a:r>
              <a:rPr lang="en-US" sz="1800" dirty="0"/>
              <a:t>Logistic regression proved to be an effective and interpretable method for this classification task.</a:t>
            </a:r>
          </a:p>
          <a:p>
            <a:r>
              <a:rPr lang="en-US" sz="1800" dirty="0"/>
              <a:t>The model’s results were consistent with both the exploratory data analysis and real-world expectations of the used car market.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60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75</TotalTime>
  <Words>587</Words>
  <Application>Microsoft Macintosh PowerPoint</Application>
  <PresentationFormat>Widescreen</PresentationFormat>
  <Paragraphs>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Wingdings</vt:lpstr>
      <vt:lpstr>Mesh</vt:lpstr>
      <vt:lpstr>Logistic Regression Final Project</vt:lpstr>
      <vt:lpstr>Dataset Summary</vt:lpstr>
      <vt:lpstr>Research Question</vt:lpstr>
      <vt:lpstr>Python EDA</vt:lpstr>
      <vt:lpstr>Python Eda</vt:lpstr>
      <vt:lpstr>Python EDA</vt:lpstr>
      <vt:lpstr>Tableau Dashboards</vt:lpstr>
      <vt:lpstr>Tableau Dashboards</vt:lpstr>
      <vt:lpstr>Tableau Dashboards</vt:lpstr>
      <vt:lpstr>Tableau Dashboards</vt:lpstr>
      <vt:lpstr>Tableau Dashboards</vt:lpstr>
      <vt:lpstr>Model Training Summary</vt:lpstr>
      <vt:lpstr>Confusion matrix + metrics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J. Klink</dc:creator>
  <cp:lastModifiedBy>Tyler J. Klink</cp:lastModifiedBy>
  <cp:revision>2</cp:revision>
  <dcterms:created xsi:type="dcterms:W3CDTF">2025-12-09T18:01:53Z</dcterms:created>
  <dcterms:modified xsi:type="dcterms:W3CDTF">2025-12-09T19:17:51Z</dcterms:modified>
</cp:coreProperties>
</file>